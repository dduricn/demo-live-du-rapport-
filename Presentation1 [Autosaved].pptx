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8" r:id="rId1"/>
  </p:sldMasterIdLst>
  <p:notesMasterIdLst>
    <p:notesMasterId r:id="rId20"/>
  </p:notesMasterIdLst>
  <p:sldIdLst>
    <p:sldId id="256" r:id="rId2"/>
    <p:sldId id="257" r:id="rId3"/>
    <p:sldId id="265" r:id="rId4"/>
    <p:sldId id="260" r:id="rId5"/>
    <p:sldId id="266" r:id="rId6"/>
    <p:sldId id="259" r:id="rId7"/>
    <p:sldId id="261" r:id="rId8"/>
    <p:sldId id="269" r:id="rId9"/>
    <p:sldId id="267" r:id="rId10"/>
    <p:sldId id="262" r:id="rId11"/>
    <p:sldId id="274" r:id="rId12"/>
    <p:sldId id="273" r:id="rId13"/>
    <p:sldId id="272" r:id="rId14"/>
    <p:sldId id="270" r:id="rId15"/>
    <p:sldId id="271" r:id="rId16"/>
    <p:sldId id="275" r:id="rId17"/>
    <p:sldId id="276" r:id="rId18"/>
    <p:sldId id="27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35"/>
    <p:restoredTop sz="97023"/>
  </p:normalViewPr>
  <p:slideViewPr>
    <p:cSldViewPr snapToGrid="0">
      <p:cViewPr>
        <p:scale>
          <a:sx n="141" d="100"/>
          <a:sy n="141" d="100"/>
        </p:scale>
        <p:origin x="176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D61502-BB88-4D1B-90EC-2819D81A4D9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EF22FCA-8666-451F-9552-2B07D55C469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CA"/>
            <a:t>I –  EXPLORATION ET MANIPULATION DU FICHIER BRUTE (FLAGS)</a:t>
          </a:r>
          <a:endParaRPr lang="en-US"/>
        </a:p>
      </dgm:t>
    </dgm:pt>
    <dgm:pt modelId="{7A72186C-B849-49E2-8161-1741150BAB99}" type="parTrans" cxnId="{04523785-87ED-40B0-9551-1755439C6E17}">
      <dgm:prSet/>
      <dgm:spPr/>
      <dgm:t>
        <a:bodyPr/>
        <a:lstStyle/>
        <a:p>
          <a:endParaRPr lang="en-US"/>
        </a:p>
      </dgm:t>
    </dgm:pt>
    <dgm:pt modelId="{9DDE1431-048A-4817-A6AB-C086D3B3979B}" type="sibTrans" cxnId="{04523785-87ED-40B0-9551-1755439C6E17}">
      <dgm:prSet/>
      <dgm:spPr/>
      <dgm:t>
        <a:bodyPr/>
        <a:lstStyle/>
        <a:p>
          <a:endParaRPr lang="en-US"/>
        </a:p>
      </dgm:t>
    </dgm:pt>
    <dgm:pt modelId="{0511F3E8-E17E-42BC-B2CB-D32F2099C80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CA" dirty="0"/>
            <a:t>II – CREATION D’UN DATASET AVEC DES JOINTURES  </a:t>
          </a:r>
          <a:endParaRPr lang="en-US" dirty="0"/>
        </a:p>
      </dgm:t>
    </dgm:pt>
    <dgm:pt modelId="{3279A9F5-66B3-450A-859E-CD883CB8195D}" type="parTrans" cxnId="{23147120-9513-4389-B0A8-4398A6EBCD5D}">
      <dgm:prSet/>
      <dgm:spPr/>
      <dgm:t>
        <a:bodyPr/>
        <a:lstStyle/>
        <a:p>
          <a:endParaRPr lang="en-US"/>
        </a:p>
      </dgm:t>
    </dgm:pt>
    <dgm:pt modelId="{DF648B7B-E037-499B-ACEC-7F48EBD7FB77}" type="sibTrans" cxnId="{23147120-9513-4389-B0A8-4398A6EBCD5D}">
      <dgm:prSet/>
      <dgm:spPr/>
      <dgm:t>
        <a:bodyPr/>
        <a:lstStyle/>
        <a:p>
          <a:endParaRPr lang="en-US"/>
        </a:p>
      </dgm:t>
    </dgm:pt>
    <dgm:pt modelId="{8457CB86-CA43-4A46-BFB3-42F7C27049D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CA" dirty="0"/>
            <a:t>III –  RESULTATS</a:t>
          </a:r>
          <a:endParaRPr lang="en-US" dirty="0"/>
        </a:p>
      </dgm:t>
    </dgm:pt>
    <dgm:pt modelId="{A75E11C6-2887-4011-B2FE-23C0EE4BA6B5}" type="parTrans" cxnId="{A211BDDD-D3D3-4A4F-B09A-27A7481DE219}">
      <dgm:prSet/>
      <dgm:spPr/>
      <dgm:t>
        <a:bodyPr/>
        <a:lstStyle/>
        <a:p>
          <a:endParaRPr lang="en-US"/>
        </a:p>
      </dgm:t>
    </dgm:pt>
    <dgm:pt modelId="{8C31E5E1-9791-4676-989A-C0BA9796FC58}" type="sibTrans" cxnId="{A211BDDD-D3D3-4A4F-B09A-27A7481DE219}">
      <dgm:prSet/>
      <dgm:spPr/>
      <dgm:t>
        <a:bodyPr/>
        <a:lstStyle/>
        <a:p>
          <a:endParaRPr lang="en-US"/>
        </a:p>
      </dgm:t>
    </dgm:pt>
    <dgm:pt modelId="{F560B624-AEB0-4D49-8892-A72A326492F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CA" dirty="0"/>
            <a:t>V – ANALYSE DES RESULTATS  &amp; COMPARAISON </a:t>
          </a:r>
          <a:endParaRPr lang="en-US" dirty="0"/>
        </a:p>
      </dgm:t>
    </dgm:pt>
    <dgm:pt modelId="{2F61A4F9-082D-4286-B5E6-1103FFB5ED42}" type="parTrans" cxnId="{5538B3D8-31BB-4534-9135-63F0FF0A7231}">
      <dgm:prSet/>
      <dgm:spPr/>
      <dgm:t>
        <a:bodyPr/>
        <a:lstStyle/>
        <a:p>
          <a:endParaRPr lang="en-US"/>
        </a:p>
      </dgm:t>
    </dgm:pt>
    <dgm:pt modelId="{1E8744A3-EAA8-46E5-A7C4-7CFCE99298D3}" type="sibTrans" cxnId="{5538B3D8-31BB-4534-9135-63F0FF0A7231}">
      <dgm:prSet/>
      <dgm:spPr/>
      <dgm:t>
        <a:bodyPr/>
        <a:lstStyle/>
        <a:p>
          <a:endParaRPr lang="en-US"/>
        </a:p>
      </dgm:t>
    </dgm:pt>
    <dgm:pt modelId="{1064C5F0-789D-47BF-AB16-1586D6E1CBA3}" type="pres">
      <dgm:prSet presAssocID="{C8D61502-BB88-4D1B-90EC-2819D81A4D99}" presName="root" presStyleCnt="0">
        <dgm:presLayoutVars>
          <dgm:dir/>
          <dgm:resizeHandles val="exact"/>
        </dgm:presLayoutVars>
      </dgm:prSet>
      <dgm:spPr/>
    </dgm:pt>
    <dgm:pt modelId="{350CEE35-FA87-47D3-B231-DE1735B7E413}" type="pres">
      <dgm:prSet presAssocID="{1EF22FCA-8666-451F-9552-2B07D55C4698}" presName="compNode" presStyleCnt="0"/>
      <dgm:spPr/>
    </dgm:pt>
    <dgm:pt modelId="{2B0F3282-DAD9-4FE1-B87C-9AE308025D6B}" type="pres">
      <dgm:prSet presAssocID="{1EF22FCA-8666-451F-9552-2B07D55C4698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EABFC15-A35D-4E2F-9FD9-167098BDA4A7}" type="pres">
      <dgm:prSet presAssocID="{1EF22FCA-8666-451F-9552-2B07D55C469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D2F9BB30-0D33-473C-B48F-77358DA34F35}" type="pres">
      <dgm:prSet presAssocID="{1EF22FCA-8666-451F-9552-2B07D55C4698}" presName="spaceRect" presStyleCnt="0"/>
      <dgm:spPr/>
    </dgm:pt>
    <dgm:pt modelId="{9673909F-1902-4870-9F87-05B05FCCB45D}" type="pres">
      <dgm:prSet presAssocID="{1EF22FCA-8666-451F-9552-2B07D55C4698}" presName="textRect" presStyleLbl="revTx" presStyleIdx="0" presStyleCnt="4">
        <dgm:presLayoutVars>
          <dgm:chMax val="1"/>
          <dgm:chPref val="1"/>
        </dgm:presLayoutVars>
      </dgm:prSet>
      <dgm:spPr/>
    </dgm:pt>
    <dgm:pt modelId="{BEA9C694-C96B-4008-99CE-EFCE1DCB6229}" type="pres">
      <dgm:prSet presAssocID="{9DDE1431-048A-4817-A6AB-C086D3B3979B}" presName="sibTrans" presStyleCnt="0"/>
      <dgm:spPr/>
    </dgm:pt>
    <dgm:pt modelId="{FECA1735-4BD6-4644-A23F-A70B5A15E066}" type="pres">
      <dgm:prSet presAssocID="{0511F3E8-E17E-42BC-B2CB-D32F2099C805}" presName="compNode" presStyleCnt="0"/>
      <dgm:spPr/>
    </dgm:pt>
    <dgm:pt modelId="{B746AA97-E98A-4A1B-9517-F008B135BE62}" type="pres">
      <dgm:prSet presAssocID="{0511F3E8-E17E-42BC-B2CB-D32F2099C805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BB30B23-A20C-401A-89A2-1DFA69130DCB}" type="pres">
      <dgm:prSet presAssocID="{0511F3E8-E17E-42BC-B2CB-D32F2099C80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207501A-172C-43EA-94A3-71704E9AA4FB}" type="pres">
      <dgm:prSet presAssocID="{0511F3E8-E17E-42BC-B2CB-D32F2099C805}" presName="spaceRect" presStyleCnt="0"/>
      <dgm:spPr/>
    </dgm:pt>
    <dgm:pt modelId="{55D47CE7-36B9-490A-8216-EDB8E78A5602}" type="pres">
      <dgm:prSet presAssocID="{0511F3E8-E17E-42BC-B2CB-D32F2099C805}" presName="textRect" presStyleLbl="revTx" presStyleIdx="1" presStyleCnt="4">
        <dgm:presLayoutVars>
          <dgm:chMax val="1"/>
          <dgm:chPref val="1"/>
        </dgm:presLayoutVars>
      </dgm:prSet>
      <dgm:spPr/>
    </dgm:pt>
    <dgm:pt modelId="{342925B0-2A31-4442-BDFF-867AF289C4EA}" type="pres">
      <dgm:prSet presAssocID="{DF648B7B-E037-499B-ACEC-7F48EBD7FB77}" presName="sibTrans" presStyleCnt="0"/>
      <dgm:spPr/>
    </dgm:pt>
    <dgm:pt modelId="{F0AF7D38-B13C-425D-AF3F-3320502BCC8C}" type="pres">
      <dgm:prSet presAssocID="{8457CB86-CA43-4A46-BFB3-42F7C27049DD}" presName="compNode" presStyleCnt="0"/>
      <dgm:spPr/>
    </dgm:pt>
    <dgm:pt modelId="{FFEAADF8-72E3-4C95-8A12-6E851A56FE4D}" type="pres">
      <dgm:prSet presAssocID="{8457CB86-CA43-4A46-BFB3-42F7C27049DD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17CA776-AD49-4CA8-ACAC-FDF7113EFEA8}" type="pres">
      <dgm:prSet presAssocID="{8457CB86-CA43-4A46-BFB3-42F7C27049D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1352FC41-850F-4194-A882-5414A9382B8E}" type="pres">
      <dgm:prSet presAssocID="{8457CB86-CA43-4A46-BFB3-42F7C27049DD}" presName="spaceRect" presStyleCnt="0"/>
      <dgm:spPr/>
    </dgm:pt>
    <dgm:pt modelId="{15C33829-EC3E-42C9-B2A0-D7593AA9E4E9}" type="pres">
      <dgm:prSet presAssocID="{8457CB86-CA43-4A46-BFB3-42F7C27049DD}" presName="textRect" presStyleLbl="revTx" presStyleIdx="2" presStyleCnt="4">
        <dgm:presLayoutVars>
          <dgm:chMax val="1"/>
          <dgm:chPref val="1"/>
        </dgm:presLayoutVars>
      </dgm:prSet>
      <dgm:spPr/>
    </dgm:pt>
    <dgm:pt modelId="{B46911D0-956E-473F-9E67-71A2BC725413}" type="pres">
      <dgm:prSet presAssocID="{8C31E5E1-9791-4676-989A-C0BA9796FC58}" presName="sibTrans" presStyleCnt="0"/>
      <dgm:spPr/>
    </dgm:pt>
    <dgm:pt modelId="{55221D99-0183-4A19-A920-F9E57FC0345E}" type="pres">
      <dgm:prSet presAssocID="{F560B624-AEB0-4D49-8892-A72A326492FB}" presName="compNode" presStyleCnt="0"/>
      <dgm:spPr/>
    </dgm:pt>
    <dgm:pt modelId="{61E810E2-CB37-4323-BA6F-ACDA34A04B0D}" type="pres">
      <dgm:prSet presAssocID="{F560B624-AEB0-4D49-8892-A72A326492FB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256A837-0B10-4E56-B3D5-5DFA22A11B52}" type="pres">
      <dgm:prSet presAssocID="{F560B624-AEB0-4D49-8892-A72A326492F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C3369E5-2726-4691-B259-F3399C4DCD07}" type="pres">
      <dgm:prSet presAssocID="{F560B624-AEB0-4D49-8892-A72A326492FB}" presName="spaceRect" presStyleCnt="0"/>
      <dgm:spPr/>
    </dgm:pt>
    <dgm:pt modelId="{166EEEA0-65B2-44A8-A87E-0F2C97672E46}" type="pres">
      <dgm:prSet presAssocID="{F560B624-AEB0-4D49-8892-A72A326492F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292B50D-1AA1-4FC0-8BAF-6CE568B412E4}" type="presOf" srcId="{8457CB86-CA43-4A46-BFB3-42F7C27049DD}" destId="{15C33829-EC3E-42C9-B2A0-D7593AA9E4E9}" srcOrd="0" destOrd="0" presId="urn:microsoft.com/office/officeart/2018/5/layout/IconLeafLabelList"/>
    <dgm:cxn modelId="{23147120-9513-4389-B0A8-4398A6EBCD5D}" srcId="{C8D61502-BB88-4D1B-90EC-2819D81A4D99}" destId="{0511F3E8-E17E-42BC-B2CB-D32F2099C805}" srcOrd="1" destOrd="0" parTransId="{3279A9F5-66B3-450A-859E-CD883CB8195D}" sibTransId="{DF648B7B-E037-499B-ACEC-7F48EBD7FB77}"/>
    <dgm:cxn modelId="{299DA53F-3B54-48B7-8E22-68A77F3F2F4C}" type="presOf" srcId="{1EF22FCA-8666-451F-9552-2B07D55C4698}" destId="{9673909F-1902-4870-9F87-05B05FCCB45D}" srcOrd="0" destOrd="0" presId="urn:microsoft.com/office/officeart/2018/5/layout/IconLeafLabelList"/>
    <dgm:cxn modelId="{04523785-87ED-40B0-9551-1755439C6E17}" srcId="{C8D61502-BB88-4D1B-90EC-2819D81A4D99}" destId="{1EF22FCA-8666-451F-9552-2B07D55C4698}" srcOrd="0" destOrd="0" parTransId="{7A72186C-B849-49E2-8161-1741150BAB99}" sibTransId="{9DDE1431-048A-4817-A6AB-C086D3B3979B}"/>
    <dgm:cxn modelId="{DA83229B-60B3-4066-95F2-8AF6E9C052D5}" type="presOf" srcId="{C8D61502-BB88-4D1B-90EC-2819D81A4D99}" destId="{1064C5F0-789D-47BF-AB16-1586D6E1CBA3}" srcOrd="0" destOrd="0" presId="urn:microsoft.com/office/officeart/2018/5/layout/IconLeafLabelList"/>
    <dgm:cxn modelId="{F1990FA1-1E75-4F0E-9D86-216D9DE09F7C}" type="presOf" srcId="{F560B624-AEB0-4D49-8892-A72A326492FB}" destId="{166EEEA0-65B2-44A8-A87E-0F2C97672E46}" srcOrd="0" destOrd="0" presId="urn:microsoft.com/office/officeart/2018/5/layout/IconLeafLabelList"/>
    <dgm:cxn modelId="{250A69A7-267A-42DA-82BC-A511F8D894F5}" type="presOf" srcId="{0511F3E8-E17E-42BC-B2CB-D32F2099C805}" destId="{55D47CE7-36B9-490A-8216-EDB8E78A5602}" srcOrd="0" destOrd="0" presId="urn:microsoft.com/office/officeart/2018/5/layout/IconLeafLabelList"/>
    <dgm:cxn modelId="{5538B3D8-31BB-4534-9135-63F0FF0A7231}" srcId="{C8D61502-BB88-4D1B-90EC-2819D81A4D99}" destId="{F560B624-AEB0-4D49-8892-A72A326492FB}" srcOrd="3" destOrd="0" parTransId="{2F61A4F9-082D-4286-B5E6-1103FFB5ED42}" sibTransId="{1E8744A3-EAA8-46E5-A7C4-7CFCE99298D3}"/>
    <dgm:cxn modelId="{A211BDDD-D3D3-4A4F-B09A-27A7481DE219}" srcId="{C8D61502-BB88-4D1B-90EC-2819D81A4D99}" destId="{8457CB86-CA43-4A46-BFB3-42F7C27049DD}" srcOrd="2" destOrd="0" parTransId="{A75E11C6-2887-4011-B2FE-23C0EE4BA6B5}" sibTransId="{8C31E5E1-9791-4676-989A-C0BA9796FC58}"/>
    <dgm:cxn modelId="{5808BBF5-4B7E-45F9-B743-3CB240A45F68}" type="presParOf" srcId="{1064C5F0-789D-47BF-AB16-1586D6E1CBA3}" destId="{350CEE35-FA87-47D3-B231-DE1735B7E413}" srcOrd="0" destOrd="0" presId="urn:microsoft.com/office/officeart/2018/5/layout/IconLeafLabelList"/>
    <dgm:cxn modelId="{31FDF4A1-B546-4FE0-9089-B432D5021431}" type="presParOf" srcId="{350CEE35-FA87-47D3-B231-DE1735B7E413}" destId="{2B0F3282-DAD9-4FE1-B87C-9AE308025D6B}" srcOrd="0" destOrd="0" presId="urn:microsoft.com/office/officeart/2018/5/layout/IconLeafLabelList"/>
    <dgm:cxn modelId="{52BBE344-8DE6-41AF-AB13-020F6AF9A8AE}" type="presParOf" srcId="{350CEE35-FA87-47D3-B231-DE1735B7E413}" destId="{3EABFC15-A35D-4E2F-9FD9-167098BDA4A7}" srcOrd="1" destOrd="0" presId="urn:microsoft.com/office/officeart/2018/5/layout/IconLeafLabelList"/>
    <dgm:cxn modelId="{07B19AC6-8B9C-46F2-8F10-479B6BDD70C8}" type="presParOf" srcId="{350CEE35-FA87-47D3-B231-DE1735B7E413}" destId="{D2F9BB30-0D33-473C-B48F-77358DA34F35}" srcOrd="2" destOrd="0" presId="urn:microsoft.com/office/officeart/2018/5/layout/IconLeafLabelList"/>
    <dgm:cxn modelId="{DE7B70A1-DFCD-435C-A49A-3981F530CD7E}" type="presParOf" srcId="{350CEE35-FA87-47D3-B231-DE1735B7E413}" destId="{9673909F-1902-4870-9F87-05B05FCCB45D}" srcOrd="3" destOrd="0" presId="urn:microsoft.com/office/officeart/2018/5/layout/IconLeafLabelList"/>
    <dgm:cxn modelId="{886D8A32-BBFE-4187-888A-48BD7CC76963}" type="presParOf" srcId="{1064C5F0-789D-47BF-AB16-1586D6E1CBA3}" destId="{BEA9C694-C96B-4008-99CE-EFCE1DCB6229}" srcOrd="1" destOrd="0" presId="urn:microsoft.com/office/officeart/2018/5/layout/IconLeafLabelList"/>
    <dgm:cxn modelId="{5304DACA-D80F-4836-8FC1-D22E10A2B4B2}" type="presParOf" srcId="{1064C5F0-789D-47BF-AB16-1586D6E1CBA3}" destId="{FECA1735-4BD6-4644-A23F-A70B5A15E066}" srcOrd="2" destOrd="0" presId="urn:microsoft.com/office/officeart/2018/5/layout/IconLeafLabelList"/>
    <dgm:cxn modelId="{96AAE950-EC05-41A1-9169-7A0789EB3E06}" type="presParOf" srcId="{FECA1735-4BD6-4644-A23F-A70B5A15E066}" destId="{B746AA97-E98A-4A1B-9517-F008B135BE62}" srcOrd="0" destOrd="0" presId="urn:microsoft.com/office/officeart/2018/5/layout/IconLeafLabelList"/>
    <dgm:cxn modelId="{F5ED1536-57A6-4604-828E-55EDA74CBDE4}" type="presParOf" srcId="{FECA1735-4BD6-4644-A23F-A70B5A15E066}" destId="{7BB30B23-A20C-401A-89A2-1DFA69130DCB}" srcOrd="1" destOrd="0" presId="urn:microsoft.com/office/officeart/2018/5/layout/IconLeafLabelList"/>
    <dgm:cxn modelId="{7A24449B-9918-4FD5-BA94-2FE2E693EE5B}" type="presParOf" srcId="{FECA1735-4BD6-4644-A23F-A70B5A15E066}" destId="{7207501A-172C-43EA-94A3-71704E9AA4FB}" srcOrd="2" destOrd="0" presId="urn:microsoft.com/office/officeart/2018/5/layout/IconLeafLabelList"/>
    <dgm:cxn modelId="{38F2BCA9-6097-449B-8D9E-13AB89A7AFBF}" type="presParOf" srcId="{FECA1735-4BD6-4644-A23F-A70B5A15E066}" destId="{55D47CE7-36B9-490A-8216-EDB8E78A5602}" srcOrd="3" destOrd="0" presId="urn:microsoft.com/office/officeart/2018/5/layout/IconLeafLabelList"/>
    <dgm:cxn modelId="{123C6EDA-2184-447B-B817-EB3EDC9E46F6}" type="presParOf" srcId="{1064C5F0-789D-47BF-AB16-1586D6E1CBA3}" destId="{342925B0-2A31-4442-BDFF-867AF289C4EA}" srcOrd="3" destOrd="0" presId="urn:microsoft.com/office/officeart/2018/5/layout/IconLeafLabelList"/>
    <dgm:cxn modelId="{4AA6171E-0489-411B-9E1F-BA335596E430}" type="presParOf" srcId="{1064C5F0-789D-47BF-AB16-1586D6E1CBA3}" destId="{F0AF7D38-B13C-425D-AF3F-3320502BCC8C}" srcOrd="4" destOrd="0" presId="urn:microsoft.com/office/officeart/2018/5/layout/IconLeafLabelList"/>
    <dgm:cxn modelId="{928BF539-9EB9-4B25-8801-C1968CA44A96}" type="presParOf" srcId="{F0AF7D38-B13C-425D-AF3F-3320502BCC8C}" destId="{FFEAADF8-72E3-4C95-8A12-6E851A56FE4D}" srcOrd="0" destOrd="0" presId="urn:microsoft.com/office/officeart/2018/5/layout/IconLeafLabelList"/>
    <dgm:cxn modelId="{4174F2A9-D914-47FC-BFA1-2534FB77C7D4}" type="presParOf" srcId="{F0AF7D38-B13C-425D-AF3F-3320502BCC8C}" destId="{F17CA776-AD49-4CA8-ACAC-FDF7113EFEA8}" srcOrd="1" destOrd="0" presId="urn:microsoft.com/office/officeart/2018/5/layout/IconLeafLabelList"/>
    <dgm:cxn modelId="{E7C89915-FEDF-4043-B019-5E2636B77DDA}" type="presParOf" srcId="{F0AF7D38-B13C-425D-AF3F-3320502BCC8C}" destId="{1352FC41-850F-4194-A882-5414A9382B8E}" srcOrd="2" destOrd="0" presId="urn:microsoft.com/office/officeart/2018/5/layout/IconLeafLabelList"/>
    <dgm:cxn modelId="{FCED40F8-B4E4-492A-9CF8-023EC96A5064}" type="presParOf" srcId="{F0AF7D38-B13C-425D-AF3F-3320502BCC8C}" destId="{15C33829-EC3E-42C9-B2A0-D7593AA9E4E9}" srcOrd="3" destOrd="0" presId="urn:microsoft.com/office/officeart/2018/5/layout/IconLeafLabelList"/>
    <dgm:cxn modelId="{9B16AD33-EF8F-4EB1-941F-410A8332F172}" type="presParOf" srcId="{1064C5F0-789D-47BF-AB16-1586D6E1CBA3}" destId="{B46911D0-956E-473F-9E67-71A2BC725413}" srcOrd="5" destOrd="0" presId="urn:microsoft.com/office/officeart/2018/5/layout/IconLeafLabelList"/>
    <dgm:cxn modelId="{47E418E4-E29E-432C-AB05-75E71668DDD2}" type="presParOf" srcId="{1064C5F0-789D-47BF-AB16-1586D6E1CBA3}" destId="{55221D99-0183-4A19-A920-F9E57FC0345E}" srcOrd="6" destOrd="0" presId="urn:microsoft.com/office/officeart/2018/5/layout/IconLeafLabelList"/>
    <dgm:cxn modelId="{FC0DDC83-6C83-4295-9038-DCA2939F7DE8}" type="presParOf" srcId="{55221D99-0183-4A19-A920-F9E57FC0345E}" destId="{61E810E2-CB37-4323-BA6F-ACDA34A04B0D}" srcOrd="0" destOrd="0" presId="urn:microsoft.com/office/officeart/2018/5/layout/IconLeafLabelList"/>
    <dgm:cxn modelId="{8316FD32-07C2-494E-BCAD-10E2AC4A78AD}" type="presParOf" srcId="{55221D99-0183-4A19-A920-F9E57FC0345E}" destId="{C256A837-0B10-4E56-B3D5-5DFA22A11B52}" srcOrd="1" destOrd="0" presId="urn:microsoft.com/office/officeart/2018/5/layout/IconLeafLabelList"/>
    <dgm:cxn modelId="{78CFA799-0124-4D32-969D-D3F2D9667827}" type="presParOf" srcId="{55221D99-0183-4A19-A920-F9E57FC0345E}" destId="{6C3369E5-2726-4691-B259-F3399C4DCD07}" srcOrd="2" destOrd="0" presId="urn:microsoft.com/office/officeart/2018/5/layout/IconLeafLabelList"/>
    <dgm:cxn modelId="{757571E5-093E-4AF8-A756-A9296EDD1B8F}" type="presParOf" srcId="{55221D99-0183-4A19-A920-F9E57FC0345E}" destId="{166EEEA0-65B2-44A8-A87E-0F2C97672E4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0F3282-DAD9-4FE1-B87C-9AE308025D6B}">
      <dsp:nvSpPr>
        <dsp:cNvPr id="0" name=""/>
        <dsp:cNvSpPr/>
      </dsp:nvSpPr>
      <dsp:spPr>
        <a:xfrm>
          <a:off x="707776" y="599241"/>
          <a:ext cx="1252520" cy="125252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ABFC15-A35D-4E2F-9FD9-167098BDA4A7}">
      <dsp:nvSpPr>
        <dsp:cNvPr id="0" name=""/>
        <dsp:cNvSpPr/>
      </dsp:nvSpPr>
      <dsp:spPr>
        <a:xfrm>
          <a:off x="974707" y="866172"/>
          <a:ext cx="718659" cy="7186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73909F-1902-4870-9F87-05B05FCCB45D}">
      <dsp:nvSpPr>
        <dsp:cNvPr id="0" name=""/>
        <dsp:cNvSpPr/>
      </dsp:nvSpPr>
      <dsp:spPr>
        <a:xfrm>
          <a:off x="307380" y="2241891"/>
          <a:ext cx="20533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CA" sz="1300" kern="1200"/>
            <a:t>I –  EXPLORATION ET MANIPULATION DU FICHIER BRUTE (FLAGS)</a:t>
          </a:r>
          <a:endParaRPr lang="en-US" sz="1300" kern="1200"/>
        </a:p>
      </dsp:txBody>
      <dsp:txXfrm>
        <a:off x="307380" y="2241891"/>
        <a:ext cx="2053312" cy="720000"/>
      </dsp:txXfrm>
    </dsp:sp>
    <dsp:sp modelId="{B746AA97-E98A-4A1B-9517-F008B135BE62}">
      <dsp:nvSpPr>
        <dsp:cNvPr id="0" name=""/>
        <dsp:cNvSpPr/>
      </dsp:nvSpPr>
      <dsp:spPr>
        <a:xfrm>
          <a:off x="3120418" y="599241"/>
          <a:ext cx="1252520" cy="125252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30B23-A20C-401A-89A2-1DFA69130DCB}">
      <dsp:nvSpPr>
        <dsp:cNvPr id="0" name=""/>
        <dsp:cNvSpPr/>
      </dsp:nvSpPr>
      <dsp:spPr>
        <a:xfrm>
          <a:off x="3387349" y="866172"/>
          <a:ext cx="718659" cy="7186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D47CE7-36B9-490A-8216-EDB8E78A5602}">
      <dsp:nvSpPr>
        <dsp:cNvPr id="0" name=""/>
        <dsp:cNvSpPr/>
      </dsp:nvSpPr>
      <dsp:spPr>
        <a:xfrm>
          <a:off x="2720022" y="2241891"/>
          <a:ext cx="20533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CA" sz="1300" kern="1200" dirty="0"/>
            <a:t>II – CREATION D’UN DATASET AVEC DES JOINTURES  </a:t>
          </a:r>
          <a:endParaRPr lang="en-US" sz="1300" kern="1200" dirty="0"/>
        </a:p>
      </dsp:txBody>
      <dsp:txXfrm>
        <a:off x="2720022" y="2241891"/>
        <a:ext cx="2053312" cy="720000"/>
      </dsp:txXfrm>
    </dsp:sp>
    <dsp:sp modelId="{FFEAADF8-72E3-4C95-8A12-6E851A56FE4D}">
      <dsp:nvSpPr>
        <dsp:cNvPr id="0" name=""/>
        <dsp:cNvSpPr/>
      </dsp:nvSpPr>
      <dsp:spPr>
        <a:xfrm>
          <a:off x="5533060" y="599241"/>
          <a:ext cx="1252520" cy="125252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7CA776-AD49-4CA8-ACAC-FDF7113EFEA8}">
      <dsp:nvSpPr>
        <dsp:cNvPr id="0" name=""/>
        <dsp:cNvSpPr/>
      </dsp:nvSpPr>
      <dsp:spPr>
        <a:xfrm>
          <a:off x="5799991" y="866172"/>
          <a:ext cx="718659" cy="7186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C33829-EC3E-42C9-B2A0-D7593AA9E4E9}">
      <dsp:nvSpPr>
        <dsp:cNvPr id="0" name=""/>
        <dsp:cNvSpPr/>
      </dsp:nvSpPr>
      <dsp:spPr>
        <a:xfrm>
          <a:off x="5132664" y="2241891"/>
          <a:ext cx="20533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CA" sz="1300" kern="1200" dirty="0"/>
            <a:t>III –  RESULTATS</a:t>
          </a:r>
          <a:endParaRPr lang="en-US" sz="1300" kern="1200" dirty="0"/>
        </a:p>
      </dsp:txBody>
      <dsp:txXfrm>
        <a:off x="5132664" y="2241891"/>
        <a:ext cx="2053312" cy="720000"/>
      </dsp:txXfrm>
    </dsp:sp>
    <dsp:sp modelId="{61E810E2-CB37-4323-BA6F-ACDA34A04B0D}">
      <dsp:nvSpPr>
        <dsp:cNvPr id="0" name=""/>
        <dsp:cNvSpPr/>
      </dsp:nvSpPr>
      <dsp:spPr>
        <a:xfrm>
          <a:off x="7945702" y="599241"/>
          <a:ext cx="1252520" cy="125252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56A837-0B10-4E56-B3D5-5DFA22A11B52}">
      <dsp:nvSpPr>
        <dsp:cNvPr id="0" name=""/>
        <dsp:cNvSpPr/>
      </dsp:nvSpPr>
      <dsp:spPr>
        <a:xfrm>
          <a:off x="8212633" y="866172"/>
          <a:ext cx="718659" cy="7186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6EEEA0-65B2-44A8-A87E-0F2C97672E46}">
      <dsp:nvSpPr>
        <dsp:cNvPr id="0" name=""/>
        <dsp:cNvSpPr/>
      </dsp:nvSpPr>
      <dsp:spPr>
        <a:xfrm>
          <a:off x="7545307" y="2241891"/>
          <a:ext cx="20533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CA" sz="1300" kern="1200" dirty="0"/>
            <a:t>V – ANALYSE DES RESULTATS  &amp; COMPARAISON </a:t>
          </a:r>
          <a:endParaRPr lang="en-US" sz="1300" kern="1200" dirty="0"/>
        </a:p>
      </dsp:txBody>
      <dsp:txXfrm>
        <a:off x="7545307" y="2241891"/>
        <a:ext cx="205331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3134A-0171-0B45-B7E0-FFDD54733DD4}" type="datetimeFigureOut">
              <a:rPr lang="fr-CA" smtClean="0"/>
              <a:t>2026-03-12</a:t>
            </a:fld>
            <a:endParaRPr lang="fr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5057A-2F4F-6846-B48A-533573426726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96928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5057A-2F4F-6846-B48A-533573426726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11596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60141-EEBD-4EC1-8E34-0344C16A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18308" y="0"/>
            <a:ext cx="6873692" cy="6858000"/>
          </a:xfrm>
          <a:custGeom>
            <a:avLst/>
            <a:gdLst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0 w 12192000"/>
              <a:gd name="connsiteY6" fmla="*/ 0 h 6858000"/>
              <a:gd name="connsiteX7" fmla="*/ 6700 w 12192000"/>
              <a:gd name="connsiteY7" fmla="*/ 0 h 6858000"/>
              <a:gd name="connsiteX8" fmla="*/ 6700 w 12192000"/>
              <a:gd name="connsiteY8" fmla="*/ 6858000 h 6858000"/>
              <a:gd name="connsiteX9" fmla="*/ 0 w 12192000"/>
              <a:gd name="connsiteY9" fmla="*/ 6858000 h 6858000"/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11328900 w 12192000"/>
              <a:gd name="connsiteY6" fmla="*/ 0 h 6858000"/>
              <a:gd name="connsiteX7" fmla="*/ 0 w 12192000"/>
              <a:gd name="connsiteY7" fmla="*/ 6858000 h 6858000"/>
              <a:gd name="connsiteX8" fmla="*/ 6700 w 12192000"/>
              <a:gd name="connsiteY8" fmla="*/ 0 h 6858000"/>
              <a:gd name="connsiteX9" fmla="*/ 6700 w 12192000"/>
              <a:gd name="connsiteY9" fmla="*/ 6858000 h 6858000"/>
              <a:gd name="connsiteX10" fmla="*/ 0 w 12192000"/>
              <a:gd name="connsiteY10" fmla="*/ 6858000 h 6858000"/>
              <a:gd name="connsiteX0" fmla="*/ 11322200 w 12185300"/>
              <a:gd name="connsiteY0" fmla="*/ 0 h 6858000"/>
              <a:gd name="connsiteX1" fmla="*/ 12185300 w 12185300"/>
              <a:gd name="connsiteY1" fmla="*/ 0 h 6858000"/>
              <a:gd name="connsiteX2" fmla="*/ 12185300 w 12185300"/>
              <a:gd name="connsiteY2" fmla="*/ 6858000 h 6858000"/>
              <a:gd name="connsiteX3" fmla="*/ 5311608 w 12185300"/>
              <a:gd name="connsiteY3" fmla="*/ 6858000 h 6858000"/>
              <a:gd name="connsiteX4" fmla="*/ 11322197 w 12185300"/>
              <a:gd name="connsiteY4" fmla="*/ 4 h 6858000"/>
              <a:gd name="connsiteX5" fmla="*/ 11322198 w 12185300"/>
              <a:gd name="connsiteY5" fmla="*/ 2 h 6858000"/>
              <a:gd name="connsiteX6" fmla="*/ 11322200 w 12185300"/>
              <a:gd name="connsiteY6" fmla="*/ 0 h 6858000"/>
              <a:gd name="connsiteX7" fmla="*/ 0 w 12185300"/>
              <a:gd name="connsiteY7" fmla="*/ 6858000 h 6858000"/>
              <a:gd name="connsiteX8" fmla="*/ 0 w 12185300"/>
              <a:gd name="connsiteY8" fmla="*/ 0 h 6858000"/>
              <a:gd name="connsiteX9" fmla="*/ 0 w 12185300"/>
              <a:gd name="connsiteY9" fmla="*/ 6858000 h 6858000"/>
              <a:gd name="connsiteX0" fmla="*/ 6010592 w 6873692"/>
              <a:gd name="connsiteY0" fmla="*/ 0 h 6858000"/>
              <a:gd name="connsiteX1" fmla="*/ 6873692 w 6873692"/>
              <a:gd name="connsiteY1" fmla="*/ 0 h 6858000"/>
              <a:gd name="connsiteX2" fmla="*/ 6873692 w 6873692"/>
              <a:gd name="connsiteY2" fmla="*/ 6858000 h 6858000"/>
              <a:gd name="connsiteX3" fmla="*/ 0 w 6873692"/>
              <a:gd name="connsiteY3" fmla="*/ 6858000 h 6858000"/>
              <a:gd name="connsiteX4" fmla="*/ 6010589 w 6873692"/>
              <a:gd name="connsiteY4" fmla="*/ 4 h 6858000"/>
              <a:gd name="connsiteX5" fmla="*/ 6010590 w 6873692"/>
              <a:gd name="connsiteY5" fmla="*/ 2 h 6858000"/>
              <a:gd name="connsiteX6" fmla="*/ 6010592 w 68736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FCBBA-905A-4FD1-BFBA-F3EE6DA26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81098"/>
            <a:ext cx="8986580" cy="2832404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48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D287E-F1C8-463F-8429-D1B5B1582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463522"/>
            <a:ext cx="8986580" cy="65031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F44ED-7973-4A99-B2CA-A8962BCE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F96F2-D6BE-49AC-A605-5AE87C3F2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FC50-B13C-4B63-AE64-F71A6EDE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75A547-BCD1-42BE-966E-53CA0AB93165}"/>
              </a:ext>
            </a:extLst>
          </p:cNvPr>
          <p:cNvCxnSpPr>
            <a:cxnSpLocks/>
          </p:cNvCxnSpPr>
          <p:nvPr/>
        </p:nvCxnSpPr>
        <p:spPr>
          <a:xfrm>
            <a:off x="1188357" y="5151666"/>
            <a:ext cx="98225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3155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CD6F3-88F1-4195-8395-57AA096B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8D06C-EB08-40B3-AFB3-A62F44112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3962F-B413-4C4C-A490-724DDB9E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71813-4E87-4C04-835D-76246010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22BA3-033C-491E-A045-F0052AC1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242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E19AD-2EDD-4B4F-9F9E-46A44418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709738"/>
            <a:ext cx="8520952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E5927-21D5-4EBA-A112-CAD1BD38B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4589466"/>
            <a:ext cx="8520952" cy="81326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F0D16-9D87-4D76-A5A5-534E24B7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5F387-5AAC-45D0-ABCE-B1CF4BC7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F6FE-0006-4F40-A7FB-E0FDBADF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264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AADE-587E-4574-B21B-7ABDE5A2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F9DA5-4DFB-4211-A58A-FFD842C27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2339501"/>
            <a:ext cx="4798979" cy="35505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99F26-66AF-4614-91CE-C93A24BAC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0020" y="2339501"/>
            <a:ext cx="4798980" cy="355059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F678E-59B5-4DF9-ABCB-506B9CB70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50A53-317B-444A-9BA2-F69CDBF5D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269A1-B0FB-4C8F-B6AA-0718C9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98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BBBF-42B2-4A5D-B145-46983A530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33272"/>
            <a:ext cx="9905999" cy="84630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4BE44-5271-4B5D-B649-35E3AF20B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2999" y="2067127"/>
            <a:ext cx="4798980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7891E-0C0A-4688-97DD-C0715E322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3001" y="2864795"/>
            <a:ext cx="4798978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EAF30-3412-49B0-93D1-596CC2695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018" y="2067127"/>
            <a:ext cx="4798981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7B9B7-F41C-4314-9F0C-BB84547FB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019" y="2864795"/>
            <a:ext cx="4798982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21587F-6AFC-4906-86EB-6B0A86EE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BE2C5-583B-49BC-9864-B01EEF79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9B236-45F5-4CC6-8D53-A6903A1C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041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B206-0678-4577-B79F-760526A5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1322615"/>
            <a:ext cx="8175171" cy="42127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5FCB8-AFD3-4801-BBD6-9548F4CF7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DACF8-CBC0-416B-B28E-EE18C423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0C7421-FF49-4CE9-87D0-2B4FFE0E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84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19CBFE-15AA-4447-9F9C-D8B0BEB24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48227-EC1E-4063-9682-891A2DB1A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C6A63-C3F4-4563-A542-9A41AC94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601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00C1-FE18-461C-801C-8626C7759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0"/>
            <a:ext cx="3932237" cy="1964986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4CFF3-3406-49E3-9D5A-1BE90FFA5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451" y="987425"/>
            <a:ext cx="542154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D14FF-9082-4BBA-BC7A-F4C5B7859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62464"/>
            <a:ext cx="3932237" cy="2206523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A2726-EB8E-4DF7-9A1B-F03BD8C71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929BE-611C-4FE6-B0A5-E0FF9DF9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90B32-1D0E-4BCD-8850-59EA235F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541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A1460E-1069-4FCA-B04E-28F77C861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13614" y="987425"/>
            <a:ext cx="55353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38C1E-867B-4FE9-8783-9B1246AEB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57601"/>
            <a:ext cx="3932236" cy="2211388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21568-4870-46F2-9F7E-F4107020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3CC65-0E73-45A1-9D4F-3F4559B3B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C58CD-9BC3-431E-A7B4-D596A7F0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8F756-D171-474C-8B1A-C818032F6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1"/>
            <a:ext cx="3932236" cy="1959428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8134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A3BF2-BCE9-47D7-B1C0-1F0E4936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722E9-C3E4-48AF-996A-495AE659F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E516-382B-4845-93BF-20C16EE0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96E16-F168-442A-843C-5D490D54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61BEA-A969-437A-BD8B-CB1B709A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2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528449-3E11-45FF-BF3A-651867603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572500" y="870625"/>
            <a:ext cx="2476499" cy="50292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0EAB0-2DFA-4CBA-86B1-1826EF523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43000" y="870625"/>
            <a:ext cx="7324928" cy="50292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22F89-E1F5-45D7-945A-8A2886C4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7E82-5FB8-4289-AD0C-0BA788E1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A4046-1A2C-41F5-A177-1C3919C2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3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1C2F78B-DEE8-4195-A196-DFC51BDADFF9}"/>
              </a:ext>
            </a:extLst>
          </p:cNvPr>
          <p:cNvSpPr/>
          <p:nvPr/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1D79D08-4BE8-4799-BE09-5078DFEE2256}"/>
              </a:ext>
            </a:extLst>
          </p:cNvPr>
          <p:cNvSpPr/>
          <p:nvPr/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5D65A1-16CB-407F-993F-2A6D59BCC0C8}"/>
              </a:ext>
            </a:extLst>
          </p:cNvPr>
          <p:cNvCxnSpPr>
            <a:cxnSpLocks/>
          </p:cNvCxnSpPr>
          <p:nvPr/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A018A2-815D-41B0-A189-FDF7A5E8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5"/>
            <a:ext cx="9905999" cy="1360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FAE63-1276-4C7C-BFF5-F5DF1CDB2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332026"/>
            <a:ext cx="9905999" cy="3567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80268-2D73-487C-843B-51648AE18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8157" y="6356350"/>
            <a:ext cx="30933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3CADBD16-5BFB-4D9F-9646-C75D1B53BBB6}" type="datetimeFigureOut">
              <a:rPr lang="en-US" smtClean="0"/>
              <a:pPr/>
              <a:t>3/12/26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61E6D-D51F-4BD7-B59D-19AF179177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0" y="6356350"/>
            <a:ext cx="39591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701B1-1C93-41C2-AEE1-815DEA51B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23186" y="6356350"/>
            <a:ext cx="6258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7644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7" r:id="rId6"/>
    <p:sldLayoutId id="2147483742" r:id="rId7"/>
    <p:sldLayoutId id="2147483743" r:id="rId8"/>
    <p:sldLayoutId id="2147483744" r:id="rId9"/>
    <p:sldLayoutId id="2147483746" r:id="rId10"/>
    <p:sldLayoutId id="214748374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029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37D505C3-540C-4E1B-AFF5-74A9D9BD3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769E6D81-D918-15BD-77B6-878D805495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611"/>
          <a:stretch>
            <a:fillRect/>
          </a:stretch>
        </p:blipFill>
        <p:spPr>
          <a:xfrm>
            <a:off x="-23832" y="-2"/>
            <a:ext cx="12191980" cy="6857990"/>
          </a:xfrm>
          <a:prstGeom prst="rect">
            <a:avLst/>
          </a:prstGeom>
        </p:spPr>
      </p:pic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C5C14909-AFB2-4E07-A65C-633954901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1127553" y="-1127553"/>
            <a:ext cx="6858000" cy="9113106"/>
          </a:xfrm>
          <a:custGeom>
            <a:avLst/>
            <a:gdLst>
              <a:gd name="connsiteX0" fmla="*/ 0 w 6858000"/>
              <a:gd name="connsiteY0" fmla="*/ 7143270 h 9113106"/>
              <a:gd name="connsiteX1" fmla="*/ 0 w 6858000"/>
              <a:gd name="connsiteY1" fmla="*/ 6878623 h 9113106"/>
              <a:gd name="connsiteX2" fmla="*/ 1 w 6858000"/>
              <a:gd name="connsiteY2" fmla="*/ 6878623 h 9113106"/>
              <a:gd name="connsiteX3" fmla="*/ 0 w 6858000"/>
              <a:gd name="connsiteY3" fmla="*/ 4319945 h 9113106"/>
              <a:gd name="connsiteX4" fmla="*/ 1 w 6858000"/>
              <a:gd name="connsiteY4" fmla="*/ 4319945 h 9113106"/>
              <a:gd name="connsiteX5" fmla="*/ 1 w 6858000"/>
              <a:gd name="connsiteY5" fmla="*/ 13542 h 9113106"/>
              <a:gd name="connsiteX6" fmla="*/ 0 w 6858000"/>
              <a:gd name="connsiteY6" fmla="*/ 13540 h 9113106"/>
              <a:gd name="connsiteX7" fmla="*/ 0 w 6858000"/>
              <a:gd name="connsiteY7" fmla="*/ 0 h 9113106"/>
              <a:gd name="connsiteX8" fmla="*/ 6858000 w 6858000"/>
              <a:gd name="connsiteY8" fmla="*/ 6010591 h 9113106"/>
              <a:gd name="connsiteX9" fmla="*/ 6858000 w 6858000"/>
              <a:gd name="connsiteY9" fmla="*/ 3794798 h 9113106"/>
              <a:gd name="connsiteX10" fmla="*/ 6858000 w 6858000"/>
              <a:gd name="connsiteY10" fmla="*/ 3794798 h 9113106"/>
              <a:gd name="connsiteX11" fmla="*/ 6858000 w 6858000"/>
              <a:gd name="connsiteY11" fmla="*/ 3837120 h 9113106"/>
              <a:gd name="connsiteX12" fmla="*/ 6858000 w 6858000"/>
              <a:gd name="connsiteY12" fmla="*/ 6838049 h 9113106"/>
              <a:gd name="connsiteX13" fmla="*/ 6858000 w 6858000"/>
              <a:gd name="connsiteY13" fmla="*/ 9113106 h 9113106"/>
              <a:gd name="connsiteX14" fmla="*/ 1 w 6858000"/>
              <a:gd name="connsiteY14" fmla="*/ 9113106 h 9113106"/>
              <a:gd name="connsiteX15" fmla="*/ 1 w 6858000"/>
              <a:gd name="connsiteY15" fmla="*/ 7143270 h 9113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9113106">
                <a:moveTo>
                  <a:pt x="0" y="7143270"/>
                </a:moveTo>
                <a:lnTo>
                  <a:pt x="0" y="6878623"/>
                </a:lnTo>
                <a:lnTo>
                  <a:pt x="1" y="6878623"/>
                </a:lnTo>
                <a:lnTo>
                  <a:pt x="0" y="4319945"/>
                </a:lnTo>
                <a:lnTo>
                  <a:pt x="1" y="4319945"/>
                </a:lnTo>
                <a:lnTo>
                  <a:pt x="1" y="13542"/>
                </a:lnTo>
                <a:lnTo>
                  <a:pt x="0" y="13540"/>
                </a:lnTo>
                <a:lnTo>
                  <a:pt x="0" y="0"/>
                </a:lnTo>
                <a:lnTo>
                  <a:pt x="6858000" y="6010591"/>
                </a:lnTo>
                <a:lnTo>
                  <a:pt x="6858000" y="3794798"/>
                </a:lnTo>
                <a:lnTo>
                  <a:pt x="6858000" y="3794798"/>
                </a:lnTo>
                <a:lnTo>
                  <a:pt x="6858000" y="3837120"/>
                </a:lnTo>
                <a:lnTo>
                  <a:pt x="6858000" y="6838049"/>
                </a:lnTo>
                <a:lnTo>
                  <a:pt x="6858000" y="9113106"/>
                </a:lnTo>
                <a:lnTo>
                  <a:pt x="1" y="9113106"/>
                </a:lnTo>
                <a:lnTo>
                  <a:pt x="1" y="7143270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5BC4B016-0848-4634-83F9-FBC4C80CA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8308" y="0"/>
            <a:ext cx="6873692" cy="6858000"/>
          </a:xfrm>
          <a:custGeom>
            <a:avLst/>
            <a:gdLst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0 w 12192000"/>
              <a:gd name="connsiteY6" fmla="*/ 0 h 6858000"/>
              <a:gd name="connsiteX7" fmla="*/ 6700 w 12192000"/>
              <a:gd name="connsiteY7" fmla="*/ 0 h 6858000"/>
              <a:gd name="connsiteX8" fmla="*/ 6700 w 12192000"/>
              <a:gd name="connsiteY8" fmla="*/ 6858000 h 6858000"/>
              <a:gd name="connsiteX9" fmla="*/ 0 w 12192000"/>
              <a:gd name="connsiteY9" fmla="*/ 6858000 h 6858000"/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11328900 w 12192000"/>
              <a:gd name="connsiteY6" fmla="*/ 0 h 6858000"/>
              <a:gd name="connsiteX7" fmla="*/ 0 w 12192000"/>
              <a:gd name="connsiteY7" fmla="*/ 6858000 h 6858000"/>
              <a:gd name="connsiteX8" fmla="*/ 6700 w 12192000"/>
              <a:gd name="connsiteY8" fmla="*/ 0 h 6858000"/>
              <a:gd name="connsiteX9" fmla="*/ 6700 w 12192000"/>
              <a:gd name="connsiteY9" fmla="*/ 6858000 h 6858000"/>
              <a:gd name="connsiteX10" fmla="*/ 0 w 12192000"/>
              <a:gd name="connsiteY10" fmla="*/ 6858000 h 6858000"/>
              <a:gd name="connsiteX0" fmla="*/ 11322200 w 12185300"/>
              <a:gd name="connsiteY0" fmla="*/ 0 h 6858000"/>
              <a:gd name="connsiteX1" fmla="*/ 12185300 w 12185300"/>
              <a:gd name="connsiteY1" fmla="*/ 0 h 6858000"/>
              <a:gd name="connsiteX2" fmla="*/ 12185300 w 12185300"/>
              <a:gd name="connsiteY2" fmla="*/ 6858000 h 6858000"/>
              <a:gd name="connsiteX3" fmla="*/ 5311608 w 12185300"/>
              <a:gd name="connsiteY3" fmla="*/ 6858000 h 6858000"/>
              <a:gd name="connsiteX4" fmla="*/ 11322197 w 12185300"/>
              <a:gd name="connsiteY4" fmla="*/ 4 h 6858000"/>
              <a:gd name="connsiteX5" fmla="*/ 11322198 w 12185300"/>
              <a:gd name="connsiteY5" fmla="*/ 2 h 6858000"/>
              <a:gd name="connsiteX6" fmla="*/ 11322200 w 12185300"/>
              <a:gd name="connsiteY6" fmla="*/ 0 h 6858000"/>
              <a:gd name="connsiteX7" fmla="*/ 0 w 12185300"/>
              <a:gd name="connsiteY7" fmla="*/ 6858000 h 6858000"/>
              <a:gd name="connsiteX8" fmla="*/ 0 w 12185300"/>
              <a:gd name="connsiteY8" fmla="*/ 0 h 6858000"/>
              <a:gd name="connsiteX9" fmla="*/ 0 w 12185300"/>
              <a:gd name="connsiteY9" fmla="*/ 6858000 h 6858000"/>
              <a:gd name="connsiteX0" fmla="*/ 6010592 w 6873692"/>
              <a:gd name="connsiteY0" fmla="*/ 0 h 6858000"/>
              <a:gd name="connsiteX1" fmla="*/ 6873692 w 6873692"/>
              <a:gd name="connsiteY1" fmla="*/ 0 h 6858000"/>
              <a:gd name="connsiteX2" fmla="*/ 6873692 w 6873692"/>
              <a:gd name="connsiteY2" fmla="*/ 6858000 h 6858000"/>
              <a:gd name="connsiteX3" fmla="*/ 0 w 6873692"/>
              <a:gd name="connsiteY3" fmla="*/ 6858000 h 6858000"/>
              <a:gd name="connsiteX4" fmla="*/ 6010589 w 6873692"/>
              <a:gd name="connsiteY4" fmla="*/ 4 h 6858000"/>
              <a:gd name="connsiteX5" fmla="*/ 6010590 w 6873692"/>
              <a:gd name="connsiteY5" fmla="*/ 2 h 6858000"/>
              <a:gd name="connsiteX6" fmla="*/ 6010592 w 68736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C48944-2752-2CEB-E165-C23B26EB8E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280" y="2556618"/>
            <a:ext cx="6719079" cy="1584010"/>
          </a:xfrm>
        </p:spPr>
        <p:txBody>
          <a:bodyPr>
            <a:normAutofit fontScale="90000"/>
          </a:bodyPr>
          <a:lstStyle/>
          <a:p>
            <a:r>
              <a:rPr lang="fr-CA" dirty="0">
                <a:solidFill>
                  <a:srgbClr val="FFFFFF"/>
                </a:solidFill>
              </a:rPr>
              <a:t>Analyse des flags critiques </a:t>
            </a:r>
            <a:br>
              <a:rPr lang="fr-CA" dirty="0">
                <a:solidFill>
                  <a:srgbClr val="FFFFFF"/>
                </a:solidFill>
              </a:rPr>
            </a:br>
            <a:br>
              <a:rPr lang="fr-CA" dirty="0">
                <a:solidFill>
                  <a:srgbClr val="FFFFFF"/>
                </a:solidFill>
              </a:rPr>
            </a:br>
            <a:endParaRPr lang="fr-CA" dirty="0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70AA64-B639-BB0A-F86C-0F32629B0CD7}"/>
              </a:ext>
            </a:extLst>
          </p:cNvPr>
          <p:cNvSpPr txBox="1"/>
          <p:nvPr/>
        </p:nvSpPr>
        <p:spPr>
          <a:xfrm>
            <a:off x="23852" y="255700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8INF309– STAGE –ROJET I</a:t>
            </a:r>
          </a:p>
        </p:txBody>
      </p:sp>
    </p:spTree>
    <p:extLst>
      <p:ext uri="{BB962C8B-B14F-4D97-AF65-F5344CB8AC3E}">
        <p14:creationId xmlns:p14="http://schemas.microsoft.com/office/powerpoint/2010/main" val="4232212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BEA1A24-9CA1-4513-A409-3AD90DB09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AA9E1F-CC2B-CA49-3A90-859CE4485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6756" y="906189"/>
            <a:ext cx="8689571" cy="1001886"/>
          </a:xfrm>
        </p:spPr>
        <p:txBody>
          <a:bodyPr anchor="b">
            <a:normAutofit/>
          </a:bodyPr>
          <a:lstStyle/>
          <a:p>
            <a:pPr algn="ctr"/>
            <a:r>
              <a:rPr lang="fr-CA"/>
              <a:t>TABLE DES MATIERES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C0930BD-361E-4C4D-8B08-ED210DFA2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5458317C-2C5E-AFFD-512D-B19610C298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0388391"/>
              </p:ext>
            </p:extLst>
          </p:nvPr>
        </p:nvGraphicFramePr>
        <p:xfrm>
          <a:off x="1143000" y="2338016"/>
          <a:ext cx="9906000" cy="3561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4773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4ECC74-1201-2B34-A531-DB014BF4A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A492B4B-5C41-D26D-5196-809DFA837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DE9F9C0-C116-2592-130B-BC5F37DEE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E7D49B1-5ACA-0196-3E89-2D3D0BF90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1215" y="100248"/>
            <a:ext cx="8689571" cy="695110"/>
          </a:xfrm>
        </p:spPr>
        <p:txBody>
          <a:bodyPr anchor="b">
            <a:normAutofit/>
          </a:bodyPr>
          <a:lstStyle/>
          <a:p>
            <a:pPr algn="ctr"/>
            <a:r>
              <a:rPr lang="fr-CA" sz="3900" dirty="0"/>
              <a:t>I- EXPLORATION ET MANIPULATION </a:t>
            </a:r>
          </a:p>
        </p:txBody>
      </p:sp>
      <p:pic>
        <p:nvPicPr>
          <p:cNvPr id="24" name="Picture 23" descr="A screenshot of a graph&#10;&#10;AI-generated content may be incorrect.">
            <a:extLst>
              <a:ext uri="{FF2B5EF4-FFF2-40B4-BE49-F238E27FC236}">
                <a16:creationId xmlns:a16="http://schemas.microsoft.com/office/drawing/2014/main" id="{F3D7736F-D1FC-A25B-62F0-6672A8B3A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16" y="1064716"/>
            <a:ext cx="6401719" cy="502753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771A0A5-3ABA-2FDE-A396-BA856618E254}"/>
              </a:ext>
            </a:extLst>
          </p:cNvPr>
          <p:cNvSpPr txBox="1"/>
          <p:nvPr/>
        </p:nvSpPr>
        <p:spPr>
          <a:xfrm>
            <a:off x="7348258" y="2285825"/>
            <a:ext cx="40348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OBSERVATIONS:</a:t>
            </a:r>
          </a:p>
          <a:p>
            <a:endParaRPr lang="fr-CA" dirty="0"/>
          </a:p>
          <a:p>
            <a:pPr marL="285750" indent="-285750">
              <a:buFont typeface="Wingdings" pitchFamily="2" charset="2"/>
              <a:buChar char="v"/>
            </a:pPr>
            <a:r>
              <a:rPr lang="fr-CA" dirty="0"/>
              <a:t>   Cardinalités &gt; 1: répétabilité des variables.</a:t>
            </a:r>
          </a:p>
          <a:p>
            <a:endParaRPr lang="fr-CA" dirty="0"/>
          </a:p>
          <a:p>
            <a:pPr marL="285750" indent="-285750">
              <a:buFont typeface="Wingdings" pitchFamily="2" charset="2"/>
              <a:buChar char="v"/>
            </a:pPr>
            <a:r>
              <a:rPr lang="fr-CA" dirty="0"/>
              <a:t>Type_2 : 0.5% valeurs manquantes.</a:t>
            </a:r>
          </a:p>
          <a:p>
            <a:pPr marL="285750" indent="-285750">
              <a:buFont typeface="Wingdings" pitchFamily="2" charset="2"/>
              <a:buChar char="v"/>
            </a:pPr>
            <a:endParaRPr lang="fr-CA" dirty="0"/>
          </a:p>
          <a:p>
            <a:pPr marL="285750" indent="-285750">
              <a:buFont typeface="Wingdings" pitchFamily="2" charset="2"/>
              <a:buChar char="v"/>
            </a:pPr>
            <a:r>
              <a:rPr lang="fr-CA" dirty="0"/>
              <a:t> Test : représente le nombre de fois que l’ID a été testé avant échec. </a:t>
            </a:r>
          </a:p>
        </p:txBody>
      </p:sp>
    </p:spTree>
    <p:extLst>
      <p:ext uri="{BB962C8B-B14F-4D97-AF65-F5344CB8AC3E}">
        <p14:creationId xmlns:p14="http://schemas.microsoft.com/office/powerpoint/2010/main" val="4014209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366E5C-D586-AA7E-64BF-853E31EF3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6134DE7-EF2A-03E7-3DC1-15CFAAB160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2DC1B3F-8190-88A2-1B6E-4F80DF446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90C4EB6-3C4C-E555-0ED4-93BBFF804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-87108"/>
            <a:ext cx="9978043" cy="835414"/>
          </a:xfrm>
        </p:spPr>
        <p:txBody>
          <a:bodyPr anchor="b">
            <a:normAutofit/>
          </a:bodyPr>
          <a:lstStyle/>
          <a:p>
            <a:pPr algn="ctr"/>
            <a:r>
              <a:rPr lang="fr-CA" sz="3900" dirty="0"/>
              <a:t>I- EXPLORATION ET MANIPULATION 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4AC36707-4C8D-BE25-6F02-C9B598F46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06" y="1065766"/>
            <a:ext cx="6751788" cy="49454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217EFB-63DB-78D2-904E-9B8C96833116}"/>
              </a:ext>
            </a:extLst>
          </p:cNvPr>
          <p:cNvSpPr txBox="1"/>
          <p:nvPr/>
        </p:nvSpPr>
        <p:spPr>
          <a:xfrm>
            <a:off x="7513008" y="2422409"/>
            <a:ext cx="359016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OBSERVATIONS:</a:t>
            </a:r>
          </a:p>
          <a:p>
            <a:endParaRPr lang="fr-CA" dirty="0"/>
          </a:p>
          <a:p>
            <a:pPr marL="285750" indent="-285750">
              <a:buFont typeface="Wingdings" pitchFamily="2" charset="2"/>
              <a:buChar char="v"/>
            </a:pPr>
            <a:r>
              <a:rPr lang="fr-CA" dirty="0"/>
              <a:t> Drop de la colonne: &lt;test&gt;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fr-CA" dirty="0"/>
              <a:t> Drop des N/A de la colonne type_2 </a:t>
            </a:r>
          </a:p>
        </p:txBody>
      </p:sp>
    </p:spTree>
    <p:extLst>
      <p:ext uri="{BB962C8B-B14F-4D97-AF65-F5344CB8AC3E}">
        <p14:creationId xmlns:p14="http://schemas.microsoft.com/office/powerpoint/2010/main" val="2136975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D4915B-09C2-80AD-F151-AAE8C9E25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8988748-960D-EA60-87F9-174E0DCA8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86A9174-041C-FA56-7053-D6DB474BD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F14D3AF-B1EC-F4C7-F7D0-99726D1F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78" y="5821"/>
            <a:ext cx="9978043" cy="835414"/>
          </a:xfrm>
        </p:spPr>
        <p:txBody>
          <a:bodyPr anchor="b">
            <a:normAutofit/>
          </a:bodyPr>
          <a:lstStyle/>
          <a:p>
            <a:pPr algn="ctr"/>
            <a:r>
              <a:rPr lang="fr-CA" sz="3900" dirty="0"/>
              <a:t>I- EXPLORATION ET MANIPULATION </a:t>
            </a:r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676F0A7A-4874-F0B0-4CF0-1D22C726D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470" y="1160898"/>
            <a:ext cx="9002004" cy="479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447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4D2C6E-3AB7-8A55-5663-98FC662F3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FD57F13B-6973-4CE9-92F3-5EC476ED9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EBABBB3-9834-451A-9C3E-59630549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92F71F-2C59-7F24-428D-9125885C1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836" y="103365"/>
            <a:ext cx="9010816" cy="763331"/>
          </a:xfrm>
        </p:spPr>
        <p:txBody>
          <a:bodyPr anchor="b">
            <a:normAutofit/>
          </a:bodyPr>
          <a:lstStyle/>
          <a:p>
            <a:pPr algn="ctr"/>
            <a:r>
              <a:rPr lang="fr-CA" sz="3900" dirty="0"/>
              <a:t>I- EXPLORATION ET MANIPULATION 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8F90B77A-2727-FD01-A9AB-EADE43E33C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4542" y="927823"/>
            <a:ext cx="7650248" cy="500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698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0E348F-9207-28E5-8131-DB236B33E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184F83B-651B-B73D-69DD-F2480432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353A13E-FC7F-93CB-701D-38CD11DEA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3A97371-C61B-D0EE-A4A1-F07F279C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379" y="-147548"/>
            <a:ext cx="8689571" cy="1001886"/>
          </a:xfrm>
        </p:spPr>
        <p:txBody>
          <a:bodyPr anchor="b">
            <a:normAutofit/>
          </a:bodyPr>
          <a:lstStyle/>
          <a:p>
            <a:pPr algn="ctr"/>
            <a:r>
              <a:rPr lang="fr-CA" sz="3900" dirty="0"/>
              <a:t>I- EXPLORATION ET MANIPULATION 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CC53D80C-0FA5-9F42-C4C8-61682F4474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3389" y="1242354"/>
            <a:ext cx="5597993" cy="40532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108588-BAEC-532C-E26A-C1985C78AB97}"/>
              </a:ext>
            </a:extLst>
          </p:cNvPr>
          <p:cNvSpPr txBox="1"/>
          <p:nvPr/>
        </p:nvSpPr>
        <p:spPr>
          <a:xfrm>
            <a:off x="7490129" y="1712775"/>
            <a:ext cx="32679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OBSERVATIONS:</a:t>
            </a:r>
          </a:p>
          <a:p>
            <a:r>
              <a:rPr lang="fr-CA" dirty="0"/>
              <a:t> 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fr-CA" dirty="0"/>
              <a:t>Création d’un data_id</a:t>
            </a:r>
          </a:p>
          <a:p>
            <a:endParaRPr lang="fr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AF31B-1DA5-4C0E-6568-C6478178AD0D}"/>
              </a:ext>
            </a:extLst>
          </p:cNvPr>
          <p:cNvSpPr txBox="1"/>
          <p:nvPr/>
        </p:nvSpPr>
        <p:spPr>
          <a:xfrm>
            <a:off x="7490129" y="3429000"/>
            <a:ext cx="27034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BUT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dirty="0"/>
          </a:p>
          <a:p>
            <a:pPr marL="285750" indent="-285750">
              <a:buFont typeface="Wingdings" pitchFamily="2" charset="2"/>
              <a:buChar char="v"/>
            </a:pPr>
            <a:r>
              <a:rPr lang="fr-CA" dirty="0"/>
              <a:t>Joindre data_id avec titre, instruction, ingrédients</a:t>
            </a:r>
          </a:p>
        </p:txBody>
      </p:sp>
    </p:spTree>
    <p:extLst>
      <p:ext uri="{BB962C8B-B14F-4D97-AF65-F5344CB8AC3E}">
        <p14:creationId xmlns:p14="http://schemas.microsoft.com/office/powerpoint/2010/main" val="3066068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3D4E78-118A-B526-BA4B-617FAAF52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1260FE7-989E-67B5-B4BB-4FAA46901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767C93-6E4D-5E33-4851-9A53AA526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476011B-77BC-F8CF-6EFD-08E3B67C6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464" y="-176228"/>
            <a:ext cx="10443953" cy="1001886"/>
          </a:xfrm>
        </p:spPr>
        <p:txBody>
          <a:bodyPr anchor="b">
            <a:normAutofit/>
          </a:bodyPr>
          <a:lstStyle/>
          <a:p>
            <a:pPr algn="ctr"/>
            <a:r>
              <a:rPr lang="fr-CA" sz="3900" dirty="0"/>
              <a:t>II -   CREATION DU DATASET - JOINTURE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3A754069-202F-D64F-C962-610BD9BDB1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3822" y="1412777"/>
            <a:ext cx="8013259" cy="459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154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C48043-2968-C34F-D480-9B2173B71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0A0595A-5F85-8BFC-8C7D-5B249E89B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852C1D-A5FC-DCCF-463D-DC8C73BE3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0274835-09BB-BCA2-494D-DE8D9B829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522" y="-56848"/>
            <a:ext cx="10443953" cy="1001886"/>
          </a:xfrm>
        </p:spPr>
        <p:txBody>
          <a:bodyPr anchor="b">
            <a:normAutofit/>
          </a:bodyPr>
          <a:lstStyle/>
          <a:p>
            <a:pPr algn="ctr"/>
            <a:r>
              <a:rPr lang="fr-CA" sz="3900" dirty="0"/>
              <a:t>III – RESULTATS </a:t>
            </a:r>
          </a:p>
        </p:txBody>
      </p:sp>
      <p:pic>
        <p:nvPicPr>
          <p:cNvPr id="5" name="Content Placeholder 4" descr="A graph showing a green and blue bar&#10;&#10;AI-generated content may be incorrect.">
            <a:extLst>
              <a:ext uri="{FF2B5EF4-FFF2-40B4-BE49-F238E27FC236}">
                <a16:creationId xmlns:a16="http://schemas.microsoft.com/office/drawing/2014/main" id="{47BCBF0F-7C77-0BD6-B393-24CA9C65CE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4877" y="1375845"/>
            <a:ext cx="9762607" cy="410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00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3F5875-4D72-2375-CD0D-6FB32B8EE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3643197-1DB6-FA2D-F61C-89EE76681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D537873-6ED7-4D98-3723-53E8C3236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F370EEB-43EF-91E8-65DC-8E1C02590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01" y="-191075"/>
            <a:ext cx="10443953" cy="1001886"/>
          </a:xfrm>
        </p:spPr>
        <p:txBody>
          <a:bodyPr anchor="b">
            <a:normAutofit/>
          </a:bodyPr>
          <a:lstStyle/>
          <a:p>
            <a:pPr algn="ctr"/>
            <a:r>
              <a:rPr lang="fr-CA" sz="3900" dirty="0"/>
              <a:t>II -   CREATION DU DATASET - JOINTURE</a:t>
            </a:r>
          </a:p>
        </p:txBody>
      </p:sp>
      <p:pic>
        <p:nvPicPr>
          <p:cNvPr id="5" name="Content Placeholder 4" descr="A group of graphs and charts&#10;&#10;AI-generated content may be incorrect.">
            <a:extLst>
              <a:ext uri="{FF2B5EF4-FFF2-40B4-BE49-F238E27FC236}">
                <a16:creationId xmlns:a16="http://schemas.microsoft.com/office/drawing/2014/main" id="{853CB6FF-904E-E4D5-1059-6D9B615AAE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8158" y="1528690"/>
            <a:ext cx="6460871" cy="44159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03EAEE-A5BA-A0B4-3A67-886E88E912B6}"/>
              </a:ext>
            </a:extLst>
          </p:cNvPr>
          <p:cNvSpPr txBox="1"/>
          <p:nvPr/>
        </p:nvSpPr>
        <p:spPr>
          <a:xfrm>
            <a:off x="179922" y="934278"/>
            <a:ext cx="7498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V.1 – ANALYSE DES RESULTATS </a:t>
            </a:r>
          </a:p>
        </p:txBody>
      </p:sp>
    </p:spTree>
    <p:extLst>
      <p:ext uri="{BB962C8B-B14F-4D97-AF65-F5344CB8AC3E}">
        <p14:creationId xmlns:p14="http://schemas.microsoft.com/office/powerpoint/2010/main" val="3887566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6A78E0-9F9D-8F20-CADD-370A77AF0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54DA9D5-14B7-204C-4F36-2CCBFB96F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AB965A9-A398-C9C0-D5D8-E5AC826BC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724A416-FC18-73A8-04BC-CCFBACF2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3837" y="178660"/>
            <a:ext cx="10329334" cy="675699"/>
          </a:xfrm>
        </p:spPr>
        <p:txBody>
          <a:bodyPr anchor="b">
            <a:normAutofit fontScale="90000"/>
          </a:bodyPr>
          <a:lstStyle/>
          <a:p>
            <a:pPr algn="ctr"/>
            <a:r>
              <a:rPr lang="fr-CA" sz="3900" dirty="0"/>
              <a:t>V -</a:t>
            </a:r>
            <a:r>
              <a:rPr lang="fr-CA" sz="3600" dirty="0"/>
              <a:t>ANALYSE DES RESULTATS  &amp; COMPARAISON</a:t>
            </a:r>
            <a:endParaRPr lang="fr-CA" sz="3900" dirty="0"/>
          </a:p>
        </p:txBody>
      </p:sp>
      <p:pic>
        <p:nvPicPr>
          <p:cNvPr id="5" name="Content Placeholder 4" descr="A graph with a red line&#10;&#10;AI-generated content may be incorrect.">
            <a:extLst>
              <a:ext uri="{FF2B5EF4-FFF2-40B4-BE49-F238E27FC236}">
                <a16:creationId xmlns:a16="http://schemas.microsoft.com/office/drawing/2014/main" id="{010F6B9D-ACB0-5CC8-5DFF-54B5B326D7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198" y="1899004"/>
            <a:ext cx="8260019" cy="34014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5AB7D3-DE6C-ADCC-D522-EC2DE93A6F12}"/>
              </a:ext>
            </a:extLst>
          </p:cNvPr>
          <p:cNvSpPr txBox="1"/>
          <p:nvPr/>
        </p:nvSpPr>
        <p:spPr>
          <a:xfrm>
            <a:off x="8693738" y="2200833"/>
            <a:ext cx="3498262" cy="1228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OBSERVATIONS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dirty="0"/>
          </a:p>
          <a:p>
            <a:pPr marL="285750" indent="-285750">
              <a:buFont typeface="Wingdings" pitchFamily="2" charset="2"/>
              <a:buChar char="v"/>
            </a:pPr>
            <a:r>
              <a:rPr lang="fr-CA" dirty="0"/>
              <a:t>Seuil de 3 –&gt; 10 : beaucoup trop bas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017201-08B9-DEAF-7A4B-3B9B1F9ED402}"/>
              </a:ext>
            </a:extLst>
          </p:cNvPr>
          <p:cNvSpPr txBox="1"/>
          <p:nvPr/>
        </p:nvSpPr>
        <p:spPr>
          <a:xfrm>
            <a:off x="294198" y="1033019"/>
            <a:ext cx="7498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V.1 – ANALYSE DES RESULTATS </a:t>
            </a:r>
          </a:p>
        </p:txBody>
      </p:sp>
    </p:spTree>
    <p:extLst>
      <p:ext uri="{BB962C8B-B14F-4D97-AF65-F5344CB8AC3E}">
        <p14:creationId xmlns:p14="http://schemas.microsoft.com/office/powerpoint/2010/main" val="3247859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69392B-782A-809C-7599-1DA5CC134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DC788F3-81A6-A0CD-3B4B-231CCDC9A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5E18776-1D65-6C76-D7ED-192DD9EF1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Content Placeholder 8" descr="A graph with blue bars&#10;&#10;AI-generated content may be incorrect.">
            <a:extLst>
              <a:ext uri="{FF2B5EF4-FFF2-40B4-BE49-F238E27FC236}">
                <a16:creationId xmlns:a16="http://schemas.microsoft.com/office/drawing/2014/main" id="{CA8E7D73-5DAC-4B73-4EC7-D90C64A594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9045" y="1895287"/>
            <a:ext cx="10579467" cy="346286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E57A215-775A-B0CD-FC0A-FC6F0F60C4F8}"/>
              </a:ext>
            </a:extLst>
          </p:cNvPr>
          <p:cNvSpPr txBox="1">
            <a:spLocks/>
          </p:cNvSpPr>
          <p:nvPr/>
        </p:nvSpPr>
        <p:spPr>
          <a:xfrm>
            <a:off x="1026135" y="70185"/>
            <a:ext cx="10329334" cy="6756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CA" sz="3900" dirty="0"/>
              <a:t>V -</a:t>
            </a:r>
            <a:r>
              <a:rPr lang="fr-CA" sz="3600" dirty="0"/>
              <a:t>ANALYSE DES RESULTATS  &amp; COMPARAISON</a:t>
            </a:r>
            <a:endParaRPr lang="fr-CA" sz="3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860104-099E-899B-E5C7-85F8F3FD03A0}"/>
              </a:ext>
            </a:extLst>
          </p:cNvPr>
          <p:cNvSpPr txBox="1"/>
          <p:nvPr/>
        </p:nvSpPr>
        <p:spPr>
          <a:xfrm>
            <a:off x="174928" y="1070818"/>
            <a:ext cx="7498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V.1 – ANALYSE DES RESULTATS </a:t>
            </a:r>
          </a:p>
        </p:txBody>
      </p:sp>
    </p:spTree>
    <p:extLst>
      <p:ext uri="{BB962C8B-B14F-4D97-AF65-F5344CB8AC3E}">
        <p14:creationId xmlns:p14="http://schemas.microsoft.com/office/powerpoint/2010/main" val="2599871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EAA6C4-0D10-09E5-877B-AC55A0CD6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05DAF25-7D24-EFB2-0BAC-6430A7343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5917471-5DFD-2153-4149-337B80135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Content Placeholder 8" descr="A green circle with white text&#10;&#10;AI-generated content may be incorrect.">
            <a:extLst>
              <a:ext uri="{FF2B5EF4-FFF2-40B4-BE49-F238E27FC236}">
                <a16:creationId xmlns:a16="http://schemas.microsoft.com/office/drawing/2014/main" id="{AE8F3ED1-90AC-F663-7839-2D37E14777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4622" y="1804525"/>
            <a:ext cx="10469853" cy="32489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EABF52-310F-7EE8-C9AC-8B23A7173942}"/>
              </a:ext>
            </a:extLst>
          </p:cNvPr>
          <p:cNvSpPr txBox="1"/>
          <p:nvPr/>
        </p:nvSpPr>
        <p:spPr>
          <a:xfrm>
            <a:off x="174928" y="1020752"/>
            <a:ext cx="7498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V.1 – ANALYSE DES RESULTATS 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944A0E3-8275-1F12-39DD-59EF6CBF55DB}"/>
              </a:ext>
            </a:extLst>
          </p:cNvPr>
          <p:cNvSpPr txBox="1">
            <a:spLocks/>
          </p:cNvSpPr>
          <p:nvPr/>
        </p:nvSpPr>
        <p:spPr>
          <a:xfrm>
            <a:off x="1026135" y="70185"/>
            <a:ext cx="10329334" cy="6756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CA" sz="3900" dirty="0"/>
              <a:t>V -</a:t>
            </a:r>
            <a:r>
              <a:rPr lang="fr-CA" sz="3600" dirty="0"/>
              <a:t>ANALYSE DES RESULTATS  &amp; COMPARAISON</a:t>
            </a:r>
            <a:endParaRPr lang="fr-CA" sz="3900" dirty="0"/>
          </a:p>
        </p:txBody>
      </p:sp>
    </p:spTree>
    <p:extLst>
      <p:ext uri="{BB962C8B-B14F-4D97-AF65-F5344CB8AC3E}">
        <p14:creationId xmlns:p14="http://schemas.microsoft.com/office/powerpoint/2010/main" val="3241294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4C7570-5B81-7BCA-610E-7648CF588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D9D43C9-CD00-622F-10CD-176ED5031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155267-F159-6D60-F82C-89458C34D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C1106BA-F5A4-2741-8A24-3797027B6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260" y="90533"/>
            <a:ext cx="10443953" cy="784603"/>
          </a:xfrm>
        </p:spPr>
        <p:txBody>
          <a:bodyPr anchor="b">
            <a:normAutofit fontScale="90000"/>
          </a:bodyPr>
          <a:lstStyle/>
          <a:p>
            <a:pPr algn="ctr"/>
            <a:r>
              <a:rPr lang="fr-CA" sz="4400" dirty="0"/>
              <a:t>V -</a:t>
            </a:r>
            <a:r>
              <a:rPr lang="fr-CA" dirty="0"/>
              <a:t>ANALYSE DES RESULTATS  &amp; COMPARAISON</a:t>
            </a:r>
            <a:endParaRPr lang="fr-CA" sz="3900" dirty="0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E0A59CFD-FAC2-FAEB-6FDE-F317856DA7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9458" y="1582175"/>
            <a:ext cx="9131756" cy="39825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85F7E0-4BA0-1D65-EC24-FC802A871D67}"/>
              </a:ext>
            </a:extLst>
          </p:cNvPr>
          <p:cNvSpPr txBox="1"/>
          <p:nvPr/>
        </p:nvSpPr>
        <p:spPr>
          <a:xfrm>
            <a:off x="174928" y="1020752"/>
            <a:ext cx="7498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V.1 – ANALYSE DES RESULTATS </a:t>
            </a:r>
          </a:p>
        </p:txBody>
      </p:sp>
    </p:spTree>
    <p:extLst>
      <p:ext uri="{BB962C8B-B14F-4D97-AF65-F5344CB8AC3E}">
        <p14:creationId xmlns:p14="http://schemas.microsoft.com/office/powerpoint/2010/main" val="777707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0E98F0-5433-D597-5AA4-BBAF3361E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E03EF6C-C1E5-2191-52A0-D249D06D8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C5543A5-F6FC-0B60-DA4C-9676F479B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856B948-4037-3777-8799-C350EA2BA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015" y="77677"/>
            <a:ext cx="10443953" cy="665956"/>
          </a:xfrm>
        </p:spPr>
        <p:txBody>
          <a:bodyPr anchor="b">
            <a:normAutofit fontScale="90000"/>
          </a:bodyPr>
          <a:lstStyle/>
          <a:p>
            <a:pPr algn="ctr"/>
            <a:r>
              <a:rPr lang="fr-CA" dirty="0"/>
              <a:t>V -</a:t>
            </a:r>
            <a:r>
              <a:rPr lang="fr-CA" sz="3600" dirty="0"/>
              <a:t>ANALYSE DES RESULTATS  &amp; COMPARAISON</a:t>
            </a:r>
            <a:endParaRPr lang="fr-CA" sz="3900" dirty="0"/>
          </a:p>
        </p:txBody>
      </p:sp>
      <p:pic>
        <p:nvPicPr>
          <p:cNvPr id="5" name="Content Placeholder 4" descr="A green and blue pie chart&#10;&#10;AI-generated content may be incorrect.">
            <a:extLst>
              <a:ext uri="{FF2B5EF4-FFF2-40B4-BE49-F238E27FC236}">
                <a16:creationId xmlns:a16="http://schemas.microsoft.com/office/drawing/2014/main" id="{EF9E7E34-9D77-4CE1-CD77-5565F02775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4248" y="1764385"/>
            <a:ext cx="10100939" cy="37613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CF9A74-1DDB-5A49-19B8-82E58374745E}"/>
              </a:ext>
            </a:extLst>
          </p:cNvPr>
          <p:cNvSpPr txBox="1"/>
          <p:nvPr/>
        </p:nvSpPr>
        <p:spPr>
          <a:xfrm>
            <a:off x="174928" y="1020752"/>
            <a:ext cx="7498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V.1 – ANALYSE DES RESULTATS </a:t>
            </a:r>
          </a:p>
        </p:txBody>
      </p:sp>
    </p:spTree>
    <p:extLst>
      <p:ext uri="{BB962C8B-B14F-4D97-AF65-F5344CB8AC3E}">
        <p14:creationId xmlns:p14="http://schemas.microsoft.com/office/powerpoint/2010/main" val="2423200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2DB854-F7D2-45E2-780B-1DFAC99CE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07189B4-3428-99C6-8DF6-A88B0B0379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5A4C304-8307-7080-3E6D-9F53A63D8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533F066-13E0-094F-EF92-0CC5719E2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01" y="-191075"/>
            <a:ext cx="10443953" cy="1001886"/>
          </a:xfrm>
        </p:spPr>
        <p:txBody>
          <a:bodyPr anchor="b">
            <a:normAutofit/>
          </a:bodyPr>
          <a:lstStyle/>
          <a:p>
            <a:pPr algn="ctr"/>
            <a:r>
              <a:rPr lang="fr-CA" dirty="0"/>
              <a:t>V -</a:t>
            </a:r>
            <a:r>
              <a:rPr lang="fr-CA" sz="3600" dirty="0"/>
              <a:t>ANALYSE DES RESULTATS  &amp; COMPARAISON</a:t>
            </a:r>
            <a:endParaRPr lang="fr-CA" sz="3900" dirty="0"/>
          </a:p>
        </p:txBody>
      </p:sp>
      <p:pic>
        <p:nvPicPr>
          <p:cNvPr id="7" name="Content Placeholder 6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61641F53-DE20-5689-9FEB-9C94189981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9284" y="2050849"/>
            <a:ext cx="9593432" cy="35671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DD691F-1C74-D23F-2390-3A7CDAC97A18}"/>
              </a:ext>
            </a:extLst>
          </p:cNvPr>
          <p:cNvSpPr txBox="1"/>
          <p:nvPr/>
        </p:nvSpPr>
        <p:spPr>
          <a:xfrm>
            <a:off x="172571" y="1001886"/>
            <a:ext cx="7498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V.2 – COMPARAISON </a:t>
            </a:r>
          </a:p>
        </p:txBody>
      </p:sp>
    </p:spTree>
    <p:extLst>
      <p:ext uri="{BB962C8B-B14F-4D97-AF65-F5344CB8AC3E}">
        <p14:creationId xmlns:p14="http://schemas.microsoft.com/office/powerpoint/2010/main" val="3134920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14914B-7D71-5D5F-74AF-D782E17AC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8EDCCB83-CC8A-B2FC-45CB-10FA9C62E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820D0CA-E55C-2122-0EFD-0581288FE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D576F4F-88BD-7798-A433-40748A0E3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01" y="-191075"/>
            <a:ext cx="10443953" cy="1001886"/>
          </a:xfrm>
        </p:spPr>
        <p:txBody>
          <a:bodyPr anchor="b">
            <a:normAutofit fontScale="90000"/>
          </a:bodyPr>
          <a:lstStyle/>
          <a:p>
            <a:pPr algn="ctr"/>
            <a:r>
              <a:rPr lang="fr-CA" sz="3600" dirty="0"/>
              <a:t>V -</a:t>
            </a:r>
            <a:r>
              <a:rPr lang="fr-CA" dirty="0"/>
              <a:t>ANALYSE DES RESULTATS  &amp; COMPARAISON</a:t>
            </a:r>
            <a:endParaRPr lang="fr-CA" sz="3900" dirty="0"/>
          </a:p>
        </p:txBody>
      </p:sp>
      <p:pic>
        <p:nvPicPr>
          <p:cNvPr id="6" name="Content Placeholder 5" descr="A graph with orange and red bars&#10;&#10;AI-generated content may be incorrect.">
            <a:extLst>
              <a:ext uri="{FF2B5EF4-FFF2-40B4-BE49-F238E27FC236}">
                <a16:creationId xmlns:a16="http://schemas.microsoft.com/office/drawing/2014/main" id="{F31E9B2D-AF6A-F41E-7BA6-98BC7DA982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2649" y="1919289"/>
            <a:ext cx="9601826" cy="35671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935FFF-93AE-51E4-8FD7-0867C9D7BC25}"/>
              </a:ext>
            </a:extLst>
          </p:cNvPr>
          <p:cNvSpPr txBox="1"/>
          <p:nvPr/>
        </p:nvSpPr>
        <p:spPr>
          <a:xfrm>
            <a:off x="172571" y="1001886"/>
            <a:ext cx="7498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V.2 – COMPARAISON </a:t>
            </a:r>
          </a:p>
        </p:txBody>
      </p:sp>
    </p:spTree>
    <p:extLst>
      <p:ext uri="{BB962C8B-B14F-4D97-AF65-F5344CB8AC3E}">
        <p14:creationId xmlns:p14="http://schemas.microsoft.com/office/powerpoint/2010/main" val="1975823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FE870F-0F80-DFFE-50DA-20AB0A3DD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E45F9D4-837A-10F3-B2D6-C6DA4DC66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BA14FDE-3BE1-5101-3EDD-8FA1C8F73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93B3B07-80A6-8215-DA86-8930E2889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01" y="-191075"/>
            <a:ext cx="10443953" cy="1001886"/>
          </a:xfrm>
        </p:spPr>
        <p:txBody>
          <a:bodyPr anchor="b">
            <a:normAutofit fontScale="90000"/>
          </a:bodyPr>
          <a:lstStyle/>
          <a:p>
            <a:pPr algn="ctr"/>
            <a:r>
              <a:rPr lang="fr-CA" sz="3600" dirty="0"/>
              <a:t>V -</a:t>
            </a:r>
            <a:r>
              <a:rPr lang="fr-CA" dirty="0"/>
              <a:t>ANALYSE DES RESULTATS  &amp; COMPARAISON</a:t>
            </a:r>
            <a:endParaRPr lang="fr-CA" sz="3900" dirty="0"/>
          </a:p>
        </p:txBody>
      </p:sp>
      <p:pic>
        <p:nvPicPr>
          <p:cNvPr id="7" name="Content Placeholder 6" descr="A screenshot of a graph&#10;&#10;AI-generated content may be incorrect.">
            <a:extLst>
              <a:ext uri="{FF2B5EF4-FFF2-40B4-BE49-F238E27FC236}">
                <a16:creationId xmlns:a16="http://schemas.microsoft.com/office/drawing/2014/main" id="{378D05EC-6C92-C441-02AD-9899DB4061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02227" y="1145787"/>
            <a:ext cx="6250406" cy="49308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542DE8-480E-F456-A51D-CFA798CD77C8}"/>
              </a:ext>
            </a:extLst>
          </p:cNvPr>
          <p:cNvSpPr txBox="1"/>
          <p:nvPr/>
        </p:nvSpPr>
        <p:spPr>
          <a:xfrm>
            <a:off x="172571" y="1001886"/>
            <a:ext cx="7498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V.2 – COMPARAISON </a:t>
            </a:r>
          </a:p>
        </p:txBody>
      </p:sp>
    </p:spTree>
    <p:extLst>
      <p:ext uri="{BB962C8B-B14F-4D97-AF65-F5344CB8AC3E}">
        <p14:creationId xmlns:p14="http://schemas.microsoft.com/office/powerpoint/2010/main" val="2276047784"/>
      </p:ext>
    </p:extLst>
  </p:cSld>
  <p:clrMapOvr>
    <a:masterClrMapping/>
  </p:clrMapOvr>
</p:sld>
</file>

<file path=ppt/theme/theme1.xml><?xml version="1.0" encoding="utf-8"?>
<a:theme xmlns:a="http://schemas.openxmlformats.org/drawingml/2006/main" name="RegattaVTI">
  <a:themeElements>
    <a:clrScheme name="Regatta Yellow">
      <a:dk1>
        <a:sysClr val="windowText" lastClr="000000"/>
      </a:dk1>
      <a:lt1>
        <a:sysClr val="window" lastClr="FFFFFF"/>
      </a:lt1>
      <a:dk2>
        <a:srgbClr val="181C30"/>
      </a:dk2>
      <a:lt2>
        <a:srgbClr val="C8E1F4"/>
      </a:lt2>
      <a:accent1>
        <a:srgbClr val="217ED3"/>
      </a:accent1>
      <a:accent2>
        <a:srgbClr val="B92525"/>
      </a:accent2>
      <a:accent3>
        <a:srgbClr val="18558C"/>
      </a:accent3>
      <a:accent4>
        <a:srgbClr val="1D8B35"/>
      </a:accent4>
      <a:accent5>
        <a:srgbClr val="EA75AA"/>
      </a:accent5>
      <a:accent6>
        <a:srgbClr val="F5A700"/>
      </a:accent6>
      <a:hlink>
        <a:srgbClr val="DB0000"/>
      </a:hlink>
      <a:folHlink>
        <a:srgbClr val="066BB6"/>
      </a:folHlink>
    </a:clrScheme>
    <a:fontScheme name="Walbaum Display">
      <a:majorFont>
        <a:latin typeface="Walbaum Display"/>
        <a:ea typeface=""/>
        <a:cs typeface=""/>
      </a:majorFont>
      <a:minorFont>
        <a:latin typeface="Walbaum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gattaVTI" id="{FFC3BCE5-6357-41D1-8E67-3F85B69D7E86}" vid="{893A6374-FE17-48E5-8B62-678C1B11AA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1730</TotalTime>
  <Words>285</Words>
  <Application>Microsoft Macintosh PowerPoint</Application>
  <PresentationFormat>Widescreen</PresentationFormat>
  <Paragraphs>53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Walbaum Display</vt:lpstr>
      <vt:lpstr>Wingdings</vt:lpstr>
      <vt:lpstr>RegattaVTI</vt:lpstr>
      <vt:lpstr>Analyse des flags critiques   </vt:lpstr>
      <vt:lpstr>TABLE DES MATIERES </vt:lpstr>
      <vt:lpstr>I- EXPLORATION ET MANIPULATION </vt:lpstr>
      <vt:lpstr>I- EXPLORATION ET MANIPULATION </vt:lpstr>
      <vt:lpstr>I- EXPLORATION ET MANIPULATION </vt:lpstr>
      <vt:lpstr>I- EXPLORATION ET MANIPULATION </vt:lpstr>
      <vt:lpstr>I- EXPLORATION ET MANIPULATION </vt:lpstr>
      <vt:lpstr>II -   CREATION DU DATASET - JOINTURE</vt:lpstr>
      <vt:lpstr>III – RESULTATS </vt:lpstr>
      <vt:lpstr>II -   CREATION DU DATASET - JOINTURE</vt:lpstr>
      <vt:lpstr>V -ANALYSE DES RESULTATS  &amp; COMPARAISON</vt:lpstr>
      <vt:lpstr>PowerPoint Presentation</vt:lpstr>
      <vt:lpstr>PowerPoint Presentation</vt:lpstr>
      <vt:lpstr>V -ANALYSE DES RESULTATS  &amp; COMPARAISON</vt:lpstr>
      <vt:lpstr>V -ANALYSE DES RESULTATS  &amp; COMPARAISON</vt:lpstr>
      <vt:lpstr>V -ANALYSE DES RESULTATS  &amp; COMPARAISON</vt:lpstr>
      <vt:lpstr>V -ANALYSE DES RESULTATS  &amp; COMPARAISON</vt:lpstr>
      <vt:lpstr>V -ANALYSE DES RESULTATS  &amp; COMPARAISON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VERRHY DURCIN NDIMINA</dc:creator>
  <cp:lastModifiedBy>DAVID VERRHY DURCIN NDIMINA</cp:lastModifiedBy>
  <cp:revision>2</cp:revision>
  <dcterms:created xsi:type="dcterms:W3CDTF">2026-03-10T14:21:40Z</dcterms:created>
  <dcterms:modified xsi:type="dcterms:W3CDTF">2026-03-12T08:13:41Z</dcterms:modified>
</cp:coreProperties>
</file>